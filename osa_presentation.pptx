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-31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F072E-774A-4A4A-9867-59391A4C81AE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9440D-DE98-442C-B071-FD9C0F013F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0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029200" cy="5029200"/>
          </a:xfrm>
          <a:prstGeom prst="ellipse">
            <a:avLst/>
          </a:prstGeom>
          <a:solidFill>
            <a:srgbClr val="3D1A78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F0B429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 HEALTH DIGITAL TWIN CHALLENGE 2026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Digital Twin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9C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obstructive sleep apnea events by fusing a synthetic EHR risk profile with wearable-style physiological signals.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</a:t>
            </a:r>
            <a:r>
              <a:rPr lang="en-US" sz="1400" dirty="0" err="1" smtClean="0">
                <a:solidFill>
                  <a:srgbClr val="B8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Sweta</a:t>
            </a:r>
            <a:r>
              <a:rPr lang="en-US" sz="1400" dirty="0" smtClean="0">
                <a:solidFill>
                  <a:srgbClr val="B8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 smtClean="0">
                <a:solidFill>
                  <a:srgbClr val="B8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Halder</a:t>
            </a:r>
            <a:r>
              <a:rPr lang="en-US" sz="1400" dirty="0" smtClean="0">
                <a:solidFill>
                  <a:srgbClr val="B8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400" dirty="0">
                <a:solidFill>
                  <a:srgbClr val="B8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College: </a:t>
            </a:r>
            <a:r>
              <a:rPr lang="en-US" sz="1400" dirty="0" smtClean="0">
                <a:solidFill>
                  <a:srgbClr val="B8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IGDTUW (Indira Gandhi Delhi Technical University for Women)</a:t>
            </a:r>
            <a:r>
              <a:rPr lang="en-US" sz="1400" dirty="0" smtClean="0">
                <a:solidFill>
                  <a:srgbClr val="B8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400" dirty="0">
                <a:solidFill>
                  <a:srgbClr val="B8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Team Size: 1 (Solo)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D1A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OSA Is Common and Badly Underdiagnosed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Obstructive Sleep Apnea — a chronic, lifestyle-linked condition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035040" cy="2514600"/>
          </a:xfrm>
          <a:prstGeom prst="roundRect">
            <a:avLst>
              <a:gd name="adj" fmla="val 2909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9344"/>
            <a:ext cx="566928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OSA</a:t>
            </a:r>
            <a:r>
              <a:rPr lang="en-US" sz="14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90" dirty="0" smtClean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9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Closely tied to obesity, hypertension and type 2 diabetes — all rising in India.</a:t>
            </a:r>
            <a:endParaRPr lang="en-US" sz="139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9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Diagnosis normally needs an overnight sleep-lab study, which most patients never get.</a:t>
            </a:r>
            <a:endParaRPr lang="en-US" sz="139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9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Digital Twin can estimate risk continuously, without waiting for a formal diagnosis.</a:t>
            </a:r>
            <a:endParaRPr lang="en-US" sz="139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9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This project builds a proof-of-concept: fuse a patient's health history with real physiological signal to flag risk, window by window, through the night.</a:t>
            </a:r>
            <a:endParaRPr lang="en-US" sz="1390" dirty="0"/>
          </a:p>
        </p:txBody>
      </p:sp>
      <p:sp>
        <p:nvSpPr>
          <p:cNvPr id="8" name="Shape 6"/>
          <p:cNvSpPr/>
          <p:nvPr/>
        </p:nvSpPr>
        <p:spPr>
          <a:xfrm>
            <a:off x="6858000" y="1463040"/>
            <a:ext cx="4754880" cy="2514600"/>
          </a:xfrm>
          <a:prstGeom prst="roundRect">
            <a:avLst>
              <a:gd name="adj" fmla="val 2909"/>
            </a:avLst>
          </a:prstGeom>
          <a:solidFill>
            <a:srgbClr val="3D1A78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040880" y="1609344"/>
            <a:ext cx="438912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"Digital Twin" Means Here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700" dirty="0" smtClean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700" dirty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data: a synthetic EHR — comorbidities such as obesity, hypertension, diabetes.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Dynamic data: overnight ECG and respiration — wearable-style, from real anonymized recordings.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Fused output: a single risk flag (LOW / MODERATE / HIGH) a clinician could act on.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348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559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streams fused into one twin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29768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44348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5559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 — LOW / MODERATE / HIGH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44348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5559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records required</a:t>
            </a:r>
            <a:endParaRPr lang="en-US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— OSA Digital Twin  |  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355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— OSA Digital Twin: 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61135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EHR risk profile and real wearable-style physiological signals are fused into one clinical flag.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85216" y="1353312"/>
            <a:ext cx="4864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 err="1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</a:t>
            </a:r>
            <a:endParaRPr lang="en-US" dirty="0"/>
          </a:p>
          <a:p>
            <a:pPr marL="0" indent="0">
              <a:buNone/>
            </a:pPr>
            <a:r>
              <a:rPr lang="en-US" sz="12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synthetic patient generator — fully synthetic EHR, zero real patient data.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1280160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28816" y="1353312"/>
            <a:ext cx="5047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</a:t>
            </a:r>
            <a:r>
              <a:rPr lang="en-US" b="1" dirty="0" err="1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Polysomnographic</a:t>
            </a: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dirty="0"/>
          </a:p>
          <a:p>
            <a:pPr marL="0" indent="0">
              <a:buNone/>
            </a:pPr>
            <a:r>
              <a:rPr lang="en-US" sz="13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PhysioNet, open-access. Real ECG + nasal airflow + SpO2, expert-scored apnea/hypopnea annotations.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52928" y="2029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A78"/>
                </a:solidFill>
              </a:rPr>
              <a:t>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20299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A78"/>
                </a:solidFill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85216" y="2340864"/>
            <a:ext cx="4864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comorbidity </a:t>
            </a:r>
            <a:r>
              <a:rPr lang="en-US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dirty="0"/>
          </a:p>
          <a:p>
            <a:pPr marL="0" indent="0">
              <a:buNone/>
            </a:pPr>
            <a:r>
              <a:rPr lang="en-US" sz="12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Rule-weighted: obesity, hypertension, prediabetes, type 2 diabetes, existing sleep apnea diagnosis.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267712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28816" y="2340864"/>
            <a:ext cx="5047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windows → HRV + breathing </a:t>
            </a:r>
            <a:r>
              <a:rPr lang="en-US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dirty="0"/>
          </a:p>
          <a:p>
            <a:pPr marL="0" indent="0">
              <a:buNone/>
            </a:pPr>
            <a:r>
              <a:rPr lang="en-US" sz="13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rate, RR-interval SDNN, LF/HF ratio, breath rate, breath-interval variability, breath amplitude.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3017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A78"/>
                </a:solidFill>
              </a:rPr>
              <a:t>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3017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1A78"/>
                </a:solidFill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85216" y="3328416"/>
            <a:ext cx="4864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risk (cohort percentile, 0–1</a:t>
            </a:r>
            <a:r>
              <a:rPr lang="en-US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  <a:p>
            <a:pPr marL="0" indent="0">
              <a:buNone/>
            </a:pPr>
            <a:r>
              <a:rPr lang="en-US" sz="13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Patient's rank within the synthetic population's weighted risk score.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255264"/>
            <a:ext cx="5303520" cy="749808"/>
          </a:xfrm>
          <a:prstGeom prst="roundRect">
            <a:avLst>
              <a:gd name="adj" fmla="val 9756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28816" y="3328416"/>
            <a:ext cx="5047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causal </a:t>
            </a:r>
            <a:r>
              <a:rPr lang="en-US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</a:t>
            </a:r>
            <a:endParaRPr lang="en-US" dirty="0"/>
          </a:p>
          <a:p>
            <a:pPr marL="0" indent="0">
              <a:buNone/>
            </a:pPr>
            <a:r>
              <a:rPr lang="en-US" sz="13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Leave-one-patient-out validated. Trailing 3-min average → dynamic risk score (0–1).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310128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A78"/>
                </a:solidFill>
              </a:rPr>
              <a:t>↘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50348" y="40050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1A78"/>
                </a:solidFill>
              </a:rPr>
              <a:t>↙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46120" y="4233672"/>
            <a:ext cx="5669280" cy="650865"/>
          </a:xfrm>
          <a:prstGeom prst="roundRect">
            <a:avLst>
              <a:gd name="adj" fmla="val 11765"/>
            </a:avLst>
          </a:prstGeom>
          <a:solidFill>
            <a:srgbClr val="3D1A78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310128" y="4292697"/>
            <a:ext cx="5477256" cy="532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20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= 0.3 × static risk  +  0.7 × dynamic risk   (hand-set weights, illustrative</a:t>
            </a:r>
            <a:r>
              <a:rPr lang="en-US" sz="1400" dirty="0" smtClean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4884537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253154" y="5085705"/>
            <a:ext cx="5669280" cy="647583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317162" y="5094848"/>
            <a:ext cx="5541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</a:t>
            </a:r>
            <a:r>
              <a:rPr lang="en-US" sz="2000" b="1" dirty="0" smtClean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</a:p>
          <a:p>
            <a:r>
              <a:rPr lang="en-US" sz="1400" b="1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LOW </a:t>
            </a:r>
            <a:r>
              <a:rPr lang="en-US" sz="1400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(&lt;0.50)                             </a:t>
            </a:r>
            <a:r>
              <a:rPr lang="en-US" sz="1400" b="1" dirty="0" smtClean="0">
                <a:solidFill>
                  <a:srgbClr val="FFC000"/>
                </a:solidFill>
                <a:latin typeface="Calibri" pitchFamily="34" charset="0"/>
                <a:cs typeface="Calibri" pitchFamily="34" charset="-120"/>
              </a:rPr>
              <a:t>MODERATE</a:t>
            </a:r>
            <a:r>
              <a:rPr lang="en-US" sz="1400" b="1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(0.50-0.65)                     </a:t>
            </a:r>
            <a:r>
              <a:rPr lang="en-US" sz="1400" b="1" dirty="0" smtClean="0">
                <a:solidFill>
                  <a:srgbClr val="DE3666"/>
                </a:solidFill>
                <a:latin typeface="Calibri" pitchFamily="34" charset="0"/>
                <a:cs typeface="Calibri" pitchFamily="34" charset="-120"/>
              </a:rPr>
              <a:t>HIGH</a:t>
            </a:r>
            <a:r>
              <a:rPr lang="en-US" sz="1400" b="1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2B1559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en-US" sz="1400" dirty="0" smtClean="0">
                <a:solidFill>
                  <a:srgbClr val="3B294D"/>
                </a:solidFill>
              </a:rPr>
              <a:t>≥0.65</a:t>
            </a:r>
            <a:r>
              <a:rPr lang="en-US" sz="1400" dirty="0" smtClean="0"/>
              <a:t>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889674" y="57607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</a:rPr>
              <a:t>↓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246120" y="5961887"/>
            <a:ext cx="5669280" cy="755435"/>
          </a:xfrm>
          <a:prstGeom prst="roundRect">
            <a:avLst>
              <a:gd name="adj" fmla="val 13793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3310128" y="5961888"/>
            <a:ext cx="5477256" cy="63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Dashboard (concept)</a:t>
            </a:r>
            <a:r>
              <a:rPr lang="en-US" sz="13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4A4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ranked by fused risk — overnight risk timeline — EHR risk tags. Not a diagnostic device.</a:t>
            </a:r>
            <a:endParaRPr lang="en-US" sz="14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" y="105156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3D1A78"/>
                </a:solidFill>
              </a:rPr>
              <a:t>STATIC  (patient history)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10515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solidFill>
                  <a:srgbClr val="3D1A78"/>
                </a:solidFill>
              </a:rPr>
              <a:t>DYNAMIC  (real-time signal)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D1A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Open-access only — no request, approval, or credentialing required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2514600"/>
          </a:xfrm>
          <a:prstGeom prst="roundRect">
            <a:avLst>
              <a:gd name="adj" fmla="val 2909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9344"/>
            <a:ext cx="512064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 Polysomnographic Database</a:t>
            </a:r>
            <a:r>
              <a:rPr lang="en-US" sz="14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50" dirty="0" smtClean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45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PhysioNet, Open Data Commons Attribution License.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ECG, nasal airflow and SpO2 signals.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Expert-scored sleep-stage AND apnea/hypopnea annotations.</a:t>
            </a:r>
            <a:endParaRPr lang="en-US" sz="14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15 of 18 subjects used — selected for a consistent nasal-airflow channel and a spread of severities, plus 2 zero-event healthy controls.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0" y="1463040"/>
            <a:ext cx="5212080" cy="2514600"/>
          </a:xfrm>
          <a:prstGeom prst="roundRect">
            <a:avLst>
              <a:gd name="adj" fmla="val 2909"/>
            </a:avLst>
          </a:prstGeom>
          <a:solidFill>
            <a:srgbClr val="3D1A78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609344"/>
            <a:ext cx="484632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700" dirty="0" smtClean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700" dirty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synthetic patient generator.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Fully synthetic EHR — zero real patient data.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Filtered for OSA-relevant comorbidities: obesity, hypertension, prediabetes, type 2 diabetes.</a:t>
            </a:r>
            <a:endParaRPr lang="en-US" sz="17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700" dirty="0">
                <a:solidFill>
                  <a:srgbClr val="E8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Explicitly named as an acceptable EHR source in the challenge brief.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348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559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available, fully open-access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9768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44348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5559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this prototype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4343400"/>
            <a:ext cx="3474720" cy="1600200"/>
          </a:xfrm>
          <a:prstGeom prst="roundRect">
            <a:avLst>
              <a:gd name="adj" fmla="val 4571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44348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55595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patients generated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— OSA Digital Twin  | 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D1A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Highlights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932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along the way, and why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1559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463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windows, real labels</a:t>
            </a:r>
            <a:r>
              <a:rPr lang="en-US" sz="135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dirty="0" smtClean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</a:t>
            </a:r>
            <a:r>
              <a:rPr lang="en-US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recording is cut into 30s windows aligned to expert annotations — not self-invented proxy labels.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D1A7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72467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 data-leakage mistake</a:t>
            </a:r>
            <a:r>
              <a:rPr lang="en-US" sz="135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dirty="0" smtClean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train/test split scored 0.94 AUC. Splitting by patient (Leave-One-Patient-Out) revealed the true score: 0.65.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1559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299059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 as early warning</a:t>
            </a:r>
            <a:r>
              <a:rPr lang="en-US" sz="135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dirty="0" smtClean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</a:t>
            </a:r>
            <a:r>
              <a:rPr lang="en-US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this window an event,” the model predicts whether an event occurs in the next ~90 seconds.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D1A7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19404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against a shortcut</a:t>
            </a:r>
            <a:r>
              <a:rPr lang="en-US" sz="135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dirty="0" smtClean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baseline (just repeat the current label) scored 0.776 — higher than the naive predictive model. The honest metric only counts currently-normal windows.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1559"/>
                </a:solidFill>
              </a:rPr>
              <a:t>5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126736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+ threshold calibration
</a:t>
            </a:r>
            <a:r>
              <a:rPr lang="en-US" dirty="0" smtClean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3-minute trailing average, with thresholds chosen from out-of-fold predictions and checked against 2 zero-event healthy controls for false alarms.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— OSA Digital Twin  |  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D1A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Leave-one-patient-out ROC-AUC — 13 scoreable subjects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459900"/>
              </p:ext>
            </p:extLst>
          </p:nvPr>
        </p:nvGraphicFramePr>
        <p:xfrm>
          <a:off x="548640" y="1417320"/>
          <a:ext cx="10698480" cy="3328416"/>
        </p:xfrm>
        <a:graphic>
          <a:graphicData uri="http://schemas.openxmlformats.org/drawingml/2006/table">
            <a:tbl>
              <a:tblPr/>
              <a:tblGrid>
                <a:gridCol w="8503920"/>
                <a:gridCol w="2194560"/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ROC-AUC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7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41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event in the current window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B1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41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event within ~90s, all windows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B1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41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Persistence baseline (current label only)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B1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41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event within ~90s, currently-normal windows only (headline result)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2B1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41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Onset-only, 4 SpO2 subjects — without SpO2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B1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41A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Onset-only, 4 SpO2 subjects — with SpO2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2B15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0.658 is the headline number: apnea events cluster, so “current label predicts future label” alone scores 0.776 — higher than the naive predictive model (0.722). The 0.658 figure removes that shortcut by testing only windows that are currently normal.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— OSA Digital Twin  |  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D1A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Thresholds &amp; Fusion in Action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physiological signal, different patients, different urgency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637082"/>
              </p:ext>
            </p:extLst>
          </p:nvPr>
        </p:nvGraphicFramePr>
        <p:xfrm>
          <a:off x="548640" y="1417320"/>
          <a:ext cx="5852160" cy="173736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005840"/>
                <a:gridCol w="1005840"/>
                <a:gridCol w="1097280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False-alarm (healthy)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1A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D63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≥ 0.65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0B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≥ 0.50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D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3880" y="31577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chosen from out-of-fold predictions, validated against 2 zero-event healthy controls as a false-alarm check.</a:t>
            </a:r>
            <a:endParaRPr lang="en-US" sz="1400" dirty="0"/>
          </a:p>
        </p:txBody>
      </p:sp>
      <p:sp>
        <p:nvSpPr>
          <p:cNvPr id="6" name="Shape 5"/>
          <p:cNvSpPr/>
          <p:nvPr/>
        </p:nvSpPr>
        <p:spPr>
          <a:xfrm>
            <a:off x="548640" y="374904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840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6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945479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flag rate — patient at the 89th EHR-risk percentile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66160" y="374904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6160" y="3840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D1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3703320" y="4969229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flag rate — patient at the 23rd EHR-risk percentile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5778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recording (slp16, 51 events/hr). Only the static EHR profile changed.</a:t>
            </a:r>
            <a:endParaRPr lang="en-US" sz="1400" dirty="0"/>
          </a:p>
        </p:txBody>
      </p:sp>
      <p:pic>
        <p:nvPicPr>
          <p:cNvPr id="15" name="Image 0" descr="/home/claude/osa_diagram/fusion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17320"/>
            <a:ext cx="5577840" cy="363471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786748" y="515543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recording slp16: dynamic model output (top) and the fused flag for a high-risk vs low-risk EHR profile (bottom).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— OSA Digital Twin  |  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D1A7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3840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B15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8961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gaps, stated plainly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4830882"/>
          </a:xfrm>
          <a:prstGeom prst="roundRect">
            <a:avLst>
              <a:gd name="adj" fmla="val 2759"/>
            </a:avLst>
          </a:prstGeom>
          <a:solidFill>
            <a:srgbClr val="F1EDFA"/>
          </a:solidFill>
          <a:ln w="12700">
            <a:solidFill>
              <a:srgbClr val="E1D9F5"/>
            </a:solidFill>
            <a:prstDash val="solid"/>
          </a:ln>
          <a:effectLst>
            <a:outerShdw blurRad="50800" dist="25400" dir="5400000" algn="bl" rotWithShape="0">
              <a:srgbClr val="2B1559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09344"/>
            <a:ext cx="106984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Modest absolute performance (onset-only AUC ~0.66). 30-second windows are short for frequency-domain HRV, which conventionally uses 2–5 minutes.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Hyperparameters were tuned on all subjects before leave-one-patient-out evaluation, so scores carry mild optimism. Nested cross-validation is the fix.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SpO2 experiment covers only 4 severe-apnea subjects with no controls; “normal” windows may include recovery from a preceding event.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signals and synthetic EHR cannot be linked per patient (privacy constraint) — fusion happens at the score level, with hand-set, illustrative weights (0.3 / 0.7) and thresholds, not clinically calibrated.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Future work: longer windows, sequence models on raw signals, probability calibration, a larger and more diverse cohort, and prospective validation on consumer wearables.</a:t>
            </a:r>
            <a:endParaRPr lang="en-US" sz="2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200" dirty="0">
                <a:solidFill>
                  <a:srgbClr val="24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This is a research prototype, not a diagnostic device.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1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 — OSA Digital Twin  |  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4572000" cy="4572000"/>
          </a:xfrm>
          <a:prstGeom prst="ellipse">
            <a:avLst/>
          </a:prstGeom>
          <a:solidFill>
            <a:srgbClr val="3D1A78">
              <a:alpha val="6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9C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Rum — OSA Digital Twin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200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https://github.com/swe74-29/Rum_IGDTUW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8A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— not a diagnostic device.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840</Words>
  <Application>Microsoft Office PowerPoint</Application>
  <PresentationFormat>Custom</PresentationFormat>
  <Paragraphs>151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Happiest Health Digital Twin Challenge 2026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Rum</dc:creator>
  <cp:lastModifiedBy>Personal</cp:lastModifiedBy>
  <cp:revision>7</cp:revision>
  <dcterms:created xsi:type="dcterms:W3CDTF">2026-10-17T09:14:45Z</dcterms:created>
  <dcterms:modified xsi:type="dcterms:W3CDTF">2026-10-17T14:03:51Z</dcterms:modified>
</cp:coreProperties>
</file>