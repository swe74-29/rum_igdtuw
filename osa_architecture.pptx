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3666"/>
    <a:srgbClr val="3B294D"/>
    <a:srgbClr val="000099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-276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E2FCE-74D4-4CAC-8FD4-12C03CA94C57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B77AC5-3241-4D40-A316-803E9AD8F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18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355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 — OSA Digital Twin: System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61135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EHR risk profile and real wearable-style physiological signals are fused into one clinical flag.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85216" y="1353312"/>
            <a:ext cx="4864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 err="1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</a:t>
            </a:r>
            <a:endParaRPr lang="en-US" dirty="0"/>
          </a:p>
          <a:p>
            <a:pPr marL="0" indent="0">
              <a:buNone/>
            </a:pPr>
            <a:r>
              <a:rPr lang="en-US" sz="12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synthetic patient generator — fully synthetic EHR, zero real patient data.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28016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28816" y="1353312"/>
            <a:ext cx="5047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</a:t>
            </a:r>
            <a:r>
              <a:rPr lang="en-US" b="1" dirty="0" err="1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Polysomnographic</a:t>
            </a:r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dirty="0"/>
          </a:p>
          <a:p>
            <a:pPr marL="0" indent="0">
              <a:buNone/>
            </a:pPr>
            <a:r>
              <a:rPr lang="en-US" sz="13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PhysioNet, open-access. Real ECG + nasal airflow + SpO2, expert-scored apnea/hypopnea annotations.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52928" y="2029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A78"/>
                </a:solidFill>
              </a:rPr>
              <a:t>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2029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A78"/>
                </a:solidFill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85216" y="2340864"/>
            <a:ext cx="4864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comorbidity </a:t>
            </a:r>
            <a:r>
              <a:rPr lang="en-US" b="1" dirty="0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dirty="0"/>
          </a:p>
          <a:p>
            <a:pPr marL="0" indent="0">
              <a:buNone/>
            </a:pPr>
            <a:r>
              <a:rPr lang="en-US" sz="12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Rule-weighted: obesity, hypertension, prediabetes, type 2 diabetes, existing sleep apnea diagnosis.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267712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28816" y="2340864"/>
            <a:ext cx="5047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windows → HRV + breathing </a:t>
            </a:r>
            <a:r>
              <a:rPr lang="en-US" b="1" dirty="0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dirty="0"/>
          </a:p>
          <a:p>
            <a:pPr marL="0" indent="0">
              <a:buNone/>
            </a:pPr>
            <a:r>
              <a:rPr lang="en-US" sz="13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RR-interval SDNN, LF/HF ratio, breath rate, breath-interval variability, breath amplitude.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017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A78"/>
                </a:solidFill>
              </a:rPr>
              <a:t>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3017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A78"/>
                </a:solidFill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85216" y="3328416"/>
            <a:ext cx="4864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risk (cohort percentile, 0–1</a:t>
            </a:r>
            <a:r>
              <a:rPr lang="en-US" b="1" dirty="0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  <a:p>
            <a:pPr marL="0" indent="0">
              <a:buNone/>
            </a:pPr>
            <a:r>
              <a:rPr lang="en-US" sz="13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Patient's rank within the synthetic population's weighted risk score.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3255264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28816" y="3328416"/>
            <a:ext cx="5047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causal </a:t>
            </a:r>
            <a:r>
              <a:rPr lang="en-US" b="1" dirty="0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dirty="0"/>
          </a:p>
          <a:p>
            <a:pPr marL="0" indent="0">
              <a:buNone/>
            </a:pPr>
            <a:r>
              <a:rPr lang="en-US" sz="13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Leave-one-patient-out validated. Trailing 3-min average → dynamic risk score (0–1).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310128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A78"/>
                </a:solidFill>
              </a:rPr>
              <a:t>↘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50348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A78"/>
                </a:solidFill>
              </a:rPr>
              <a:t>↙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46120" y="4233672"/>
            <a:ext cx="5669280" cy="650865"/>
          </a:xfrm>
          <a:prstGeom prst="roundRect">
            <a:avLst>
              <a:gd name="adj" fmla="val 11765"/>
            </a:avLst>
          </a:prstGeom>
          <a:solidFill>
            <a:srgbClr val="3D1A78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310128" y="4292697"/>
            <a:ext cx="5477256" cy="532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20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E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0.3 × static risk  +  0.7 × dynamic risk   (hand-set weights, illustrative</a:t>
            </a:r>
            <a:r>
              <a:rPr lang="en-US" sz="1400" dirty="0" smtClean="0">
                <a:solidFill>
                  <a:srgbClr val="E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4884537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429"/>
                </a:solidFill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53154" y="5085705"/>
            <a:ext cx="5669280" cy="647583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317162" y="5094848"/>
            <a:ext cx="5541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</a:t>
            </a:r>
            <a:r>
              <a:rPr lang="en-US" sz="2000" b="1" dirty="0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</a:p>
          <a:p>
            <a:r>
              <a:rPr lang="en-US" sz="1400" b="1" dirty="0" smtClean="0">
                <a:solidFill>
                  <a:srgbClr val="2B1559"/>
                </a:solidFill>
                <a:latin typeface="Calibri" pitchFamily="34" charset="0"/>
                <a:cs typeface="Calibri" pitchFamily="34" charset="-120"/>
              </a:rPr>
              <a:t>LOW </a:t>
            </a:r>
            <a:r>
              <a:rPr lang="en-US" sz="1400" dirty="0" smtClean="0">
                <a:solidFill>
                  <a:srgbClr val="2B1559"/>
                </a:solidFill>
                <a:latin typeface="Calibri" pitchFamily="34" charset="0"/>
                <a:cs typeface="Calibri" pitchFamily="34" charset="-120"/>
              </a:rPr>
              <a:t>(&lt;0.50)                             </a:t>
            </a:r>
            <a:r>
              <a:rPr lang="en-US" sz="1400" b="1" dirty="0" smtClean="0">
                <a:solidFill>
                  <a:srgbClr val="FFC000"/>
                </a:solidFill>
                <a:latin typeface="Calibri" pitchFamily="34" charset="0"/>
                <a:cs typeface="Calibri" pitchFamily="34" charset="-120"/>
              </a:rPr>
              <a:t>MODERATE</a:t>
            </a:r>
            <a:r>
              <a:rPr lang="en-US" sz="1400" b="1" dirty="0" smtClean="0">
                <a:solidFill>
                  <a:srgbClr val="2B155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2B1559"/>
                </a:solidFill>
                <a:latin typeface="Calibri" pitchFamily="34" charset="0"/>
                <a:cs typeface="Calibri" pitchFamily="34" charset="-120"/>
              </a:rPr>
              <a:t>(0.50-0.65)                     </a:t>
            </a:r>
            <a:r>
              <a:rPr lang="en-US" sz="1400" b="1" dirty="0" smtClean="0">
                <a:solidFill>
                  <a:srgbClr val="DE3666"/>
                </a:solidFill>
                <a:latin typeface="Calibri" pitchFamily="34" charset="0"/>
                <a:cs typeface="Calibri" pitchFamily="34" charset="-120"/>
              </a:rPr>
              <a:t>HIGH</a:t>
            </a:r>
            <a:r>
              <a:rPr lang="en-US" sz="1400" b="1" dirty="0" smtClean="0">
                <a:solidFill>
                  <a:srgbClr val="2B155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2B1559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en-US" sz="1400" dirty="0" smtClean="0">
                <a:solidFill>
                  <a:srgbClr val="3B294D"/>
                </a:solidFill>
              </a:rPr>
              <a:t>≥0.65</a:t>
            </a:r>
            <a:r>
              <a:rPr lang="en-US" sz="1400" dirty="0" smtClean="0"/>
              <a:t>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889674" y="57607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429"/>
                </a:solidFill>
              </a:rPr>
              <a:t>↓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246120" y="5961887"/>
            <a:ext cx="5669280" cy="755435"/>
          </a:xfrm>
          <a:prstGeom prst="roundRect">
            <a:avLst>
              <a:gd name="adj" fmla="val 13793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310128" y="5961888"/>
            <a:ext cx="5477256" cy="63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Dashboard (concept)</a:t>
            </a:r>
            <a:r>
              <a:rPr lang="en-US" sz="13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ranked by fused risk — overnight risk timeline — EHR risk tags. Not a diagnostic device.</a:t>
            </a:r>
            <a:endParaRPr lang="en-US" sz="14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" y="105156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3D1A78"/>
                </a:solidFill>
              </a:rPr>
              <a:t>STATIC  (patient history)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10515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3D1A78"/>
                </a:solidFill>
              </a:rPr>
              <a:t>DYNAMIC  (real-time signal)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196</Words>
  <Application>Microsoft Office PowerPoint</Application>
  <PresentationFormat>Custom</PresentationFormat>
  <Paragraphs>30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Personal</cp:lastModifiedBy>
  <cp:revision>4</cp:revision>
  <dcterms:created xsi:type="dcterms:W3CDTF">2026-10-17T04:02:35Z</dcterms:created>
  <dcterms:modified xsi:type="dcterms:W3CDTF">2026-10-17T04:33:48Z</dcterms:modified>
</cp:coreProperties>
</file>